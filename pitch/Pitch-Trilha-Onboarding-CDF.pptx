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Abertura: esta e a proposta de onboarding tecnico em CDF para Horizontal + UR. O objetivo e levar uma pessoa nova de zero a apta a assumir uma demanda com seguranca.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Mostre a dor: ou a pessoa recebe um monte de links, ou um curso generico. Nos dois casos ela demora a produzir e gera retrabalho de revisao.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Nosso norte: ao final, a pessoa nao so 'assistiu', ela entregou evidencias (modelo, notebook, consulta, doc) e esta pronta para uma tarefa real.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Estes principios guiam todo o material. Destaque 'aprender entregando' e 'acesso nao bloqueia' — sao os que mais reduzem tempo ocioso.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Seis camadas, cada uma com saida minima. As camadas 2 e 4 sao onde os notebooks e a pratica integradora entram.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 ementa cobre do acesso a qualidade. Cada modulo tem pratica e aceite tecnico definidos na especificacao.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Cada video e uma unidade delegavel com roteiro, demonstracao e criterio de aceite. Curtos para criar mapa mental; a doc sustenta a execucao.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 backlog conecta o aprendizado ao trabalho. No maximo 2 itens ativos por pessoa; tarefa produtiva so apos ONB-01, ONB-02 e DOC-01.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Avaliacao mede explicar + executar + documentar + respeitar limites. Bloqueio critico exige revisao humana independentemente da nota.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Papeis nominais e claros evitam item parado: cada entrega tem dono de producao e dono de validacao.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 entrega ja esta operacional: governanca + roteiros + labs reproduziveis, tudo em uma pasta, com os notebooks testados de ponta a ponta.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Pedido: aprovar o piloto e definir os primeiros participantes. Medimos o ganho de tempo e iteramos com o feedback real.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>
              <a:defRPr sz="4000">
                <a:solidFill>
                  <a:srgbClr val="0F2D4A"/>
                </a:solidFill>
              </a:defRPr>
            </a:pPr>
            <a:r>
              <a:t>Onboarding Tecnico CDF</a:t>
            </a:r>
          </a:p>
          <a:p>
            <a:r>
              <a:t>Horizontal + UR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pPr>
              <a:defRPr sz="2200">
                <a:solidFill>
                  <a:srgbClr val="1A6B7A"/>
                </a:solidFill>
              </a:defRPr>
            </a:pPr>
            <a:r>
              <a:t>Trilha guiada, mensuravel e reutilizavel</a:t>
            </a:r>
          </a:p>
          <a:p>
            <a:pPr>
              <a:defRPr sz="1800">
                <a:solidFill>
                  <a:srgbClr val="5A6A7A"/>
                </a:solidFill>
              </a:defRPr>
            </a:pPr>
            <a:r>
              <a:t>Cognite Data Fusion (CDF) | revisao 1.2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>
                <a:solidFill>
                  <a:srgbClr val="0F2D4A"/>
                </a:solidFill>
              </a:defRPr>
            </a:pPr>
            <a:r>
              <a:t>O problema que resolvemos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pPr>
              <a:spcAft>
                <a:spcPts val="600"/>
              </a:spcAft>
              <a:defRPr sz="1900">
                <a:solidFill>
                  <a:srgbClr val="0F2D4A"/>
                </a:solidFill>
              </a:defRPr>
            </a:pPr>
            <a:r>
              <a:t>Onboarding hoje oscila entre dois extremos:</a:t>
            </a:r>
          </a:p>
          <a:p>
            <a:pPr lvl="1">
              <a:spcAft>
                <a:spcPts val="600"/>
              </a:spcAft>
              <a:defRPr sz="1700">
                <a:solidFill>
                  <a:srgbClr val="5A6A7A"/>
                </a:solidFill>
              </a:defRPr>
            </a:pPr>
            <a:r>
              <a:t>ma biblioteca passiva de links que ninguem termina</a:t>
            </a:r>
          </a:p>
          <a:p>
            <a:pPr lvl="1">
              <a:spcAft>
                <a:spcPts val="600"/>
              </a:spcAft>
              <a:defRPr sz="1700">
                <a:solidFill>
                  <a:srgbClr val="5A6A7A"/>
                </a:solidFill>
              </a:defRPr>
            </a:pPr>
            <a:r>
              <a:t>m treinamento generico, desconectado do trabalho real</a:t>
            </a:r>
          </a:p>
          <a:p>
            <a:pPr>
              <a:spcAft>
                <a:spcPts val="600"/>
              </a:spcAft>
              <a:defRPr sz="1900">
                <a:solidFill>
                  <a:srgbClr val="0F2D4A"/>
                </a:solidFill>
              </a:defRPr>
            </a:pPr>
            <a:r>
              <a:t>Resultado: tempo longo ate a primeira entrega segura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>
                <a:solidFill>
                  <a:srgbClr val="0F2D4A"/>
                </a:solidFill>
              </a:defRPr>
            </a:pPr>
            <a:r>
              <a:t>Objetivo (resultado esperado)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pPr>
              <a:spcAft>
                <a:spcPts val="600"/>
              </a:spcAft>
              <a:defRPr sz="1900">
                <a:solidFill>
                  <a:srgbClr val="0F2D4A"/>
                </a:solidFill>
              </a:defRPr>
            </a:pPr>
            <a:r>
              <a:t>Transformar a entrada em uma jornada guiada e mensuravel</a:t>
            </a:r>
          </a:p>
          <a:p>
            <a:pPr>
              <a:spcAft>
                <a:spcPts val="600"/>
              </a:spcAft>
              <a:defRPr sz="1900">
                <a:solidFill>
                  <a:srgbClr val="0F2D4A"/>
                </a:solidFill>
              </a:defRPr>
            </a:pPr>
            <a:r>
              <a:t>A pessoa aprende os fundamentos do CDF</a:t>
            </a:r>
          </a:p>
          <a:p>
            <a:pPr>
              <a:spcAft>
                <a:spcPts val="600"/>
              </a:spcAft>
              <a:defRPr sz="1900">
                <a:solidFill>
                  <a:srgbClr val="0F2D4A"/>
                </a:solidFill>
              </a:defRPr>
            </a:pPr>
            <a:r>
              <a:t>Entende o projeto em que vai atuar</a:t>
            </a:r>
          </a:p>
          <a:p>
            <a:pPr>
              <a:spcAft>
                <a:spcPts val="600"/>
              </a:spcAft>
              <a:defRPr sz="1900">
                <a:solidFill>
                  <a:srgbClr val="0F2D4A"/>
                </a:solidFill>
              </a:defRPr>
            </a:pPr>
            <a:r>
              <a:t>Entrega evidencias uteis antes de assumir demanda produtiva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>
                <a:solidFill>
                  <a:srgbClr val="0F2D4A"/>
                </a:solidFill>
              </a:defRPr>
            </a:pPr>
            <a:r>
              <a:t>Principios operacionais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pPr>
              <a:spcAft>
                <a:spcPts val="600"/>
              </a:spcAft>
              <a:defRPr sz="1900">
                <a:solidFill>
                  <a:srgbClr val="0F2D4A"/>
                </a:solidFill>
              </a:defRPr>
            </a:pPr>
            <a:r>
              <a:t>Aprender entregando: cada modulo gera evidencia</a:t>
            </a:r>
          </a:p>
          <a:p>
            <a:pPr>
              <a:spcAft>
                <a:spcPts val="600"/>
              </a:spcAft>
              <a:defRPr sz="1900">
                <a:solidFill>
                  <a:srgbClr val="0F2D4A"/>
                </a:solidFill>
              </a:defRPr>
            </a:pPr>
            <a:r>
              <a:t>Base comum, contexto variavel por projeto</a:t>
            </a:r>
          </a:p>
          <a:p>
            <a:pPr>
              <a:spcAft>
                <a:spcPts val="600"/>
              </a:spcAft>
              <a:defRPr sz="1900">
                <a:solidFill>
                  <a:srgbClr val="0F2D4A"/>
                </a:solidFill>
              </a:defRPr>
            </a:pPr>
            <a:r>
              <a:t>Video orienta (8-12 min); documentacao referencia</a:t>
            </a:r>
          </a:p>
          <a:p>
            <a:pPr>
              <a:spcAft>
                <a:spcPts val="600"/>
              </a:spcAft>
              <a:defRPr sz="1900">
                <a:solidFill>
                  <a:srgbClr val="0F2D4A"/>
                </a:solidFill>
              </a:defRPr>
            </a:pPr>
            <a:r>
              <a:t>Documentacao e produto, com dono e data de revisao</a:t>
            </a:r>
          </a:p>
          <a:p>
            <a:pPr>
              <a:spcAft>
                <a:spcPts val="600"/>
              </a:spcAft>
              <a:defRPr sz="1900">
                <a:solidFill>
                  <a:srgbClr val="0F2D4A"/>
                </a:solidFill>
              </a:defRPr>
            </a:pPr>
            <a:r>
              <a:t>Acesso nao bloqueia: sandbox e dados sinteticos</a:t>
            </a:r>
          </a:p>
          <a:p>
            <a:pPr>
              <a:spcAft>
                <a:spcPts val="600"/>
              </a:spcAft>
              <a:defRPr sz="1900">
                <a:solidFill>
                  <a:srgbClr val="0F2D4A"/>
                </a:solidFill>
              </a:defRPr>
            </a:pPr>
            <a:r>
              <a:t>Avaliacao reproduzivel; IA so apoia a pre-correcao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>
                <a:solidFill>
                  <a:srgbClr val="0F2D4A"/>
                </a:solidFill>
              </a:defRPr>
            </a:pPr>
            <a:r>
              <a:t>Arquitetura da jornada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pPr>
              <a:spcAft>
                <a:spcPts val="600"/>
              </a:spcAft>
              <a:defRPr sz="1900">
                <a:solidFill>
                  <a:srgbClr val="0F2D4A"/>
                </a:solidFill>
              </a:defRPr>
            </a:pPr>
            <a:r>
              <a:t>0. Pre-onboarding: acessos e ferramentas</a:t>
            </a:r>
          </a:p>
          <a:p>
            <a:pPr>
              <a:spcAft>
                <a:spcPts val="600"/>
              </a:spcAft>
              <a:defRPr sz="1900">
                <a:solidFill>
                  <a:srgbClr val="0F2D4A"/>
                </a:solidFill>
              </a:defRPr>
            </a:pPr>
            <a:r>
              <a:t>1. Onboarding geral: empresa e cliente</a:t>
            </a:r>
          </a:p>
          <a:p>
            <a:pPr>
              <a:spcAft>
                <a:spcPts val="600"/>
              </a:spcAft>
              <a:defRPr sz="1900">
                <a:solidFill>
                  <a:srgbClr val="0F2D4A"/>
                </a:solidFill>
              </a:defRPr>
            </a:pPr>
            <a:r>
              <a:t>2. Base tecnica CDF: vocabulario e pratica</a:t>
            </a:r>
          </a:p>
          <a:p>
            <a:pPr>
              <a:spcAft>
                <a:spcPts val="600"/>
              </a:spcAft>
              <a:defRPr sz="1900">
                <a:solidFill>
                  <a:srgbClr val="0F2D4A"/>
                </a:solidFill>
              </a:defRPr>
            </a:pPr>
            <a:r>
              <a:t>3. Imersao no projeto: dominio e arquitetura</a:t>
            </a:r>
          </a:p>
          <a:p>
            <a:pPr>
              <a:spcAft>
                <a:spcPts val="600"/>
              </a:spcAft>
              <a:defRPr sz="1900">
                <a:solidFill>
                  <a:srgbClr val="0F2D4A"/>
                </a:solidFill>
              </a:defRPr>
            </a:pPr>
            <a:r>
              <a:t>4. Pratica guiada: demanda segura</a:t>
            </a:r>
          </a:p>
          <a:p>
            <a:pPr>
              <a:spcAft>
                <a:spcPts val="600"/>
              </a:spcAft>
              <a:defRPr sz="1900">
                <a:solidFill>
                  <a:srgbClr val="0F2D4A"/>
                </a:solidFill>
              </a:defRPr>
            </a:pPr>
            <a:r>
              <a:t>5. Fechamento: prontidao e handoff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>
                <a:solidFill>
                  <a:srgbClr val="0F2D4A"/>
                </a:solidFill>
              </a:defRPr>
            </a:pPr>
            <a:r>
              <a:t>Ementa tecnica (modulos)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pPr>
              <a:spcAft>
                <a:spcPts val="600"/>
              </a:spcAft>
              <a:defRPr sz="1900">
                <a:solidFill>
                  <a:srgbClr val="0F2D4A"/>
                </a:solidFill>
              </a:defRPr>
            </a:pPr>
            <a:r>
              <a:t>M0 Acesso | M1 Fundamentos | M2 Modelagem</a:t>
            </a:r>
          </a:p>
          <a:p>
            <a:pPr>
              <a:spcAft>
                <a:spcPts val="600"/>
              </a:spcAft>
              <a:defRPr sz="1900">
                <a:solidFill>
                  <a:srgbClr val="0F2D4A"/>
                </a:solidFill>
              </a:defRPr>
            </a:pPr>
            <a:r>
              <a:t>M3 Ingestao | M4 Transformacao | M5 Escrita direta</a:t>
            </a:r>
          </a:p>
          <a:p>
            <a:pPr>
              <a:spcAft>
                <a:spcPts val="600"/>
              </a:spcAft>
              <a:defRPr sz="1900">
                <a:solidFill>
                  <a:srgbClr val="0F2D4A"/>
                </a:solidFill>
              </a:defRPr>
            </a:pPr>
            <a:r>
              <a:t>M6 Consulta | M7 Consumo | M8 Qualidade</a:t>
            </a:r>
          </a:p>
          <a:p>
            <a:pPr>
              <a:spcAft>
                <a:spcPts val="600"/>
              </a:spcAft>
              <a:defRPr sz="1900">
                <a:solidFill>
                  <a:srgbClr val="0F2D4A"/>
                </a:solidFill>
              </a:defRPr>
            </a:pPr>
            <a:r>
              <a:t>Carga de referencia: 20-24h assincronas + clinica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>
                <a:solidFill>
                  <a:srgbClr val="0F2D4A"/>
                </a:solidFill>
              </a:defRPr>
            </a:pPr>
            <a:r>
              <a:t>Serie de 17 videos (8-12 min)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pPr>
              <a:spcAft>
                <a:spcPts val="600"/>
              </a:spcAft>
              <a:defRPr sz="1900">
                <a:solidFill>
                  <a:srgbClr val="0F2D4A"/>
                </a:solidFill>
              </a:defRPr>
            </a:pPr>
            <a:r>
              <a:t>V00-V02: usar a trilha, mapa do CDF, IAM</a:t>
            </a:r>
          </a:p>
          <a:p>
            <a:pPr>
              <a:spcAft>
                <a:spcPts val="600"/>
              </a:spcAft>
              <a:defRPr sz="1900">
                <a:solidFill>
                  <a:srgbClr val="0F2D4A"/>
                </a:solidFill>
              </a:defRPr>
            </a:pPr>
            <a:r>
              <a:t>V03-V06: autenticacao, DMS, relacoes, contrato</a:t>
            </a:r>
          </a:p>
          <a:p>
            <a:pPr>
              <a:spcAft>
                <a:spcPts val="600"/>
              </a:spcAft>
              <a:defRPr sz="1900">
                <a:solidFill>
                  <a:srgbClr val="0F2D4A"/>
                </a:solidFill>
              </a:defRPr>
            </a:pPr>
            <a:r>
              <a:t>V07-V09: ingestao, transformations, escrita</a:t>
            </a:r>
          </a:p>
          <a:p>
            <a:pPr>
              <a:spcAft>
                <a:spcPts val="600"/>
              </a:spcAft>
              <a:defRPr sz="1900">
                <a:solidFill>
                  <a:srgbClr val="0F2D4A"/>
                </a:solidFill>
              </a:defRPr>
            </a:pPr>
            <a:r>
              <a:t>V10-V12: GraphQL/SDK, apps, qualidade</a:t>
            </a:r>
          </a:p>
          <a:p>
            <a:pPr>
              <a:spcAft>
                <a:spcPts val="600"/>
              </a:spcAft>
              <a:defRPr sz="1900">
                <a:solidFill>
                  <a:srgbClr val="0F2D4A"/>
                </a:solidFill>
              </a:defRPr>
            </a:pPr>
            <a:r>
              <a:t>V13-V16: arquitetura, dados, operacao, doc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>
                <a:solidFill>
                  <a:srgbClr val="0F2D4A"/>
                </a:solidFill>
              </a:defRPr>
            </a:pPr>
            <a:r>
              <a:t>Backlog de onboarding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pPr>
              <a:spcAft>
                <a:spcPts val="600"/>
              </a:spcAft>
              <a:defRPr sz="1900">
                <a:solidFill>
                  <a:srgbClr val="0F2D4A"/>
                </a:solidFill>
              </a:defRPr>
            </a:pPr>
            <a:r>
              <a:t>ONB-01 ambiente -&gt; ONB-02 mapa do projeto</a:t>
            </a:r>
          </a:p>
          <a:p>
            <a:pPr>
              <a:spcAft>
                <a:spcPts val="600"/>
              </a:spcAft>
              <a:defRPr sz="1900">
                <a:solidFill>
                  <a:srgbClr val="0F2D4A"/>
                </a:solidFill>
              </a:defRPr>
            </a:pPr>
            <a:r>
              <a:t>DOC-01 radar de documentacao</a:t>
            </a:r>
          </a:p>
          <a:p>
            <a:pPr>
              <a:spcAft>
                <a:spcPts val="600"/>
              </a:spcAft>
              <a:defRPr sz="1900">
                <a:solidFill>
                  <a:srgbClr val="0F2D4A"/>
                </a:solidFill>
              </a:defRPr>
            </a:pPr>
            <a:r>
              <a:t>CDF-01..04 explorar, modelar, ingerir, consultar</a:t>
            </a:r>
          </a:p>
          <a:p>
            <a:pPr>
              <a:spcAft>
                <a:spcPts val="600"/>
              </a:spcAft>
              <a:defRPr sz="1900">
                <a:solidFill>
                  <a:srgbClr val="0F2D4A"/>
                </a:solidFill>
              </a:defRPr>
            </a:pPr>
            <a:r>
              <a:t>DOC-02 melhorar uma referencia real</a:t>
            </a:r>
          </a:p>
          <a:p>
            <a:pPr>
              <a:spcAft>
                <a:spcPts val="600"/>
              </a:spcAft>
              <a:defRPr sz="1900">
                <a:solidFill>
                  <a:srgbClr val="0F2D4A"/>
                </a:solidFill>
              </a:defRPr>
            </a:pPr>
            <a:r>
              <a:t>PRJ-01 tarefa segura -&gt; EVAL-01 prontidao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>
                <a:solidFill>
                  <a:srgbClr val="0F2D4A"/>
                </a:solidFill>
              </a:defRPr>
            </a:pPr>
            <a:r>
              <a:t>Avaliacao e prontidao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pPr>
              <a:spcAft>
                <a:spcPts val="600"/>
              </a:spcAft>
              <a:defRPr sz="1900">
                <a:solidFill>
                  <a:srgbClr val="0F2D4A"/>
                </a:solidFill>
              </a:defRPr>
            </a:pPr>
            <a:r>
              <a:t>Rubrica: correcao tecnica 35, modelagem 20</a:t>
            </a:r>
          </a:p>
          <a:p>
            <a:pPr>
              <a:spcAft>
                <a:spcPts val="600"/>
              </a:spcAft>
              <a:defRPr sz="1900">
                <a:solidFill>
                  <a:srgbClr val="0F2D4A"/>
                </a:solidFill>
              </a:defRPr>
            </a:pPr>
            <a:r>
              <a:t>Seguranca/governanca 15, reprodutibilidade 15, doc 15</a:t>
            </a:r>
          </a:p>
          <a:p>
            <a:pPr>
              <a:spcAft>
                <a:spcPts val="600"/>
              </a:spcAft>
              <a:defRPr sz="1900">
                <a:solidFill>
                  <a:srgbClr val="0F2D4A"/>
                </a:solidFill>
              </a:defRPr>
            </a:pPr>
            <a:r>
              <a:t>Aprovado &gt;= 70 sem bloqueio critico</a:t>
            </a:r>
          </a:p>
          <a:p>
            <a:pPr>
              <a:spcAft>
                <a:spcPts val="600"/>
              </a:spcAft>
              <a:defRPr sz="1900">
                <a:solidFill>
                  <a:srgbClr val="0F2D4A"/>
                </a:solidFill>
              </a:defRPr>
            </a:pPr>
            <a:r>
              <a:t>Bloqueio critico: segredo exposto, escrita em prod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>
                <a:solidFill>
                  <a:srgbClr val="0F2D4A"/>
                </a:solidFill>
              </a:defRPr>
            </a:pPr>
            <a:r>
              <a:t>Governanca e papeis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pPr>
              <a:spcAft>
                <a:spcPts val="600"/>
              </a:spcAft>
              <a:defRPr sz="1900">
                <a:solidFill>
                  <a:srgbClr val="0F2D4A"/>
                </a:solidFill>
              </a:defRPr>
            </a:pPr>
            <a:r>
              <a:t>Estruturacao: Gilson Cesar da Costa</a:t>
            </a:r>
          </a:p>
          <a:p>
            <a:pPr>
              <a:spcAft>
                <a:spcPts val="600"/>
              </a:spcAft>
              <a:defRPr sz="1900">
                <a:solidFill>
                  <a:srgbClr val="0F2D4A"/>
                </a:solidFill>
              </a:defRPr>
            </a:pPr>
            <a:r>
              <a:t>Aprovacao tecnica: Andre Alves</a:t>
            </a:r>
          </a:p>
          <a:p>
            <a:pPr>
              <a:spcAft>
                <a:spcPts val="600"/>
              </a:spcAft>
              <a:defRPr sz="1900">
                <a:solidFill>
                  <a:srgbClr val="0F2D4A"/>
                </a:solidFill>
              </a:defRPr>
            </a:pPr>
            <a:r>
              <a:t>Execucao UR: Dayana Viana</a:t>
            </a:r>
          </a:p>
          <a:p>
            <a:pPr>
              <a:spcAft>
                <a:spcPts val="600"/>
              </a:spcAft>
              <a:defRPr sz="1900">
                <a:solidFill>
                  <a:srgbClr val="0F2D4A"/>
                </a:solidFill>
              </a:defRPr>
            </a:pPr>
            <a:r>
              <a:t>Prioridade/impedimentos UR: Lara Menezes</a:t>
            </a:r>
          </a:p>
          <a:p>
            <a:pPr>
              <a:spcAft>
                <a:spcPts val="600"/>
              </a:spcAft>
              <a:defRPr sz="1900">
                <a:solidFill>
                  <a:srgbClr val="0F2D4A"/>
                </a:solidFill>
              </a:defRPr>
            </a:pPr>
            <a:r>
              <a:t>Validacao de projeto: Tech Lead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>
                <a:solidFill>
                  <a:srgbClr val="0F2D4A"/>
                </a:solidFill>
              </a:defRPr>
            </a:pPr>
            <a:r>
              <a:t>Como esta entregue (pacote v1.2)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pPr>
              <a:spcAft>
                <a:spcPts val="600"/>
              </a:spcAft>
              <a:defRPr sz="1900">
                <a:solidFill>
                  <a:srgbClr val="0F2D4A"/>
                </a:solidFill>
              </a:defRPr>
            </a:pPr>
            <a:r>
              <a:t>Pasta unica consolidada, 3 camadas:</a:t>
            </a:r>
          </a:p>
          <a:p>
            <a:pPr lvl="1">
              <a:spcAft>
                <a:spcPts val="600"/>
              </a:spcAft>
              <a:defRPr sz="1700">
                <a:solidFill>
                  <a:srgbClr val="5A6A7A"/>
                </a:solidFill>
              </a:defRPr>
            </a:pPr>
            <a:r>
              <a:t>itch: estes decks</a:t>
            </a:r>
          </a:p>
          <a:p>
            <a:pPr lvl="1">
              <a:spcAft>
                <a:spcPts val="600"/>
              </a:spcAft>
              <a:defRPr sz="1700">
                <a:solidFill>
                  <a:srgbClr val="5A6A7A"/>
                </a:solidFill>
              </a:defRPr>
            </a:pPr>
            <a:r>
              <a:t>hecklist: mestre + um por video/atividade</a:t>
            </a:r>
          </a:p>
          <a:p>
            <a:pPr lvl="1">
              <a:spcAft>
                <a:spcPts val="600"/>
              </a:spcAft>
              <a:defRPr sz="1700">
                <a:solidFill>
                  <a:srgbClr val="5A6A7A"/>
                </a:solidFill>
              </a:defRPr>
            </a:pPr>
            <a:r>
              <a:t>ocumentacao: 00-09, guias e notebooks testados</a:t>
            </a:r>
          </a:p>
          <a:p>
            <a:pPr>
              <a:spcAft>
                <a:spcPts val="600"/>
              </a:spcAft>
              <a:defRPr sz="1900">
                <a:solidFill>
                  <a:srgbClr val="0F2D4A"/>
                </a:solidFill>
              </a:defRPr>
            </a:pPr>
            <a:r>
              <a:t>12 notebooks de lab (V03-V12, V14, V15) validados no treino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>
                <a:solidFill>
                  <a:srgbClr val="0F2D4A"/>
                </a:solidFill>
              </a:defRPr>
            </a:pPr>
            <a:r>
              <a:t>Proximos passos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pPr>
              <a:spcAft>
                <a:spcPts val="600"/>
              </a:spcAft>
              <a:defRPr sz="1900">
                <a:solidFill>
                  <a:srgbClr val="0F2D4A"/>
                </a:solidFill>
              </a:defRPr>
            </a:pPr>
            <a:r>
              <a:t>Rodar o piloto com um grupo pequeno</a:t>
            </a:r>
          </a:p>
          <a:p>
            <a:pPr>
              <a:spcAft>
                <a:spcPts val="600"/>
              </a:spcAft>
              <a:defRPr sz="1900">
                <a:solidFill>
                  <a:srgbClr val="0F2D4A"/>
                </a:solidFill>
              </a:defRPr>
            </a:pPr>
            <a:r>
              <a:t>Publicar a trilha na Ulearning</a:t>
            </a:r>
          </a:p>
          <a:p>
            <a:pPr>
              <a:spcAft>
                <a:spcPts val="600"/>
              </a:spcAft>
              <a:defRPr sz="1900">
                <a:solidFill>
                  <a:srgbClr val="0F2D4A"/>
                </a:solidFill>
              </a:defRPr>
            </a:pPr>
            <a:r>
              <a:t>Medir tempo ate a primeira entrega segura</a:t>
            </a:r>
          </a:p>
          <a:p>
            <a:pPr>
              <a:spcAft>
                <a:spcPts val="600"/>
              </a:spcAft>
              <a:defRPr sz="1900">
                <a:solidFill>
                  <a:srgbClr val="0F2D4A"/>
                </a:solidFill>
              </a:defRPr>
            </a:pPr>
            <a:r>
              <a:t>Capturar duvidas como itens de melhoria/FAQ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