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persona tem um caminho claro. Abra o slide da sua funcao e siga a sequencia numerada; a evidencia de cada passo esta no checklist 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Fluxo linear com no maximo 2 itens ativos no backlog. Cada passo termina com evidencia registrada; 'assistiu' nao conta como feito.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par e o primeiro contato humano, nao o aprovador final. Acolhe, orienta o caminho e garante que a evidencia esta no lugar 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Tech Lead conecta a trilha generica ao projeto real. Valida o que e especifico do cliente; nao publica na Ulearning — isso e 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Gilson estrutura o modelo como produto. Nao autoaprova conteudo tecnico — encaminha para Andre ou Tech Lead conforme o tipo de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 e a instancia tecnica final para materiais CDF. Aprovacao registrada libera Dayana para publicar; sem aprovacao, item permanece bloqueado.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Dayana opera a trilha no dia a dia. Publica somente versao aprovada e mantém rastreabilidade entre backlog, Ulearning e artefatos.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Lara responde pela frente UR: prioridade, capacidade e decisoes quando a operacao diaria precisa de patrocinio ou desbloqueio.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produtor executa o roteiro, nao redefine o modulo. Qualquer mudanca de escopo volta para Gilson e o backlog antes de gravar.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Lideranca nao executa o dia a dia da trilha, mas destrava recursos e valida se o modelo esta gerando prontidao mensuravel no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este slide como cola de escalonamento. Cada persona tem dono claro; evite mensagem informal para decisoes que exigem registro.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Fluxo por Persona</a:t>
            </a:r>
          </a:p>
          <a:p>
            <a:r>
              <a:t>Onboarding CDF v1.2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 slide por ator: o que fazer, em que ordem</a:t>
            </a:r>
          </a:p>
          <a:p>
            <a:r>
              <a:t>Horizontal + UR | pacote consolidado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Participante em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Abrir COMECE-AQUI + docs/governanca/00-LEIA-ME-PRIMEIRO</a:t>
            </a:r>
          </a:p>
          <a:p>
            <a:pPr>
              <a:defRPr sz="2000"/>
            </a:pPr>
            <a:r>
              <a:t>2. ONB-01 — preparar ambiente e acessos (valida: par de entrada)</a:t>
            </a:r>
          </a:p>
          <a:p>
            <a:pPr>
              <a:defRPr sz="2000"/>
            </a:pPr>
            <a:r>
              <a:t>3. ONB-02 — mapa do projeto / canvas (valida: Tech Lead) | V13, V14</a:t>
            </a:r>
          </a:p>
          <a:p>
            <a:pPr>
              <a:defRPr sz="2000"/>
            </a:pPr>
            <a:r>
              <a:t>4. DOC-01 — radar de documentacao (valida: dono do conteudo)</a:t>
            </a:r>
          </a:p>
          <a:p>
            <a:pPr>
              <a:defRPr sz="2000"/>
            </a:pPr>
            <a:r>
              <a:t>5. CDF-01..04 — explorar, modelar, ingerir, consultar | V03-V12</a:t>
            </a:r>
          </a:p>
          <a:p>
            <a:pPr>
              <a:defRPr sz="2000"/>
            </a:pPr>
            <a:r>
              <a:t>6. DOC-02 — melhorar uma referencia real (valida: dono do conteudo)</a:t>
            </a:r>
          </a:p>
          <a:p>
            <a:pPr>
              <a:defRPr sz="2000"/>
            </a:pPr>
            <a:r>
              <a:t>7. PRJ-01 — tarefa segura do projeto (valida: Tech Lead)</a:t>
            </a:r>
          </a:p>
          <a:p>
            <a:pPr>
              <a:defRPr sz="2000"/>
            </a:pPr>
            <a:r>
              <a:t>8. EVAL-01 — demo 10 min + rubrica (valida: Tech Lead + Andre + Dayana)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Par de entrada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Ser nomeado pela lideranca do projeto antes do kickoff</a:t>
            </a:r>
          </a:p>
          <a:p>
            <a:pPr>
              <a:defRPr sz="2000"/>
            </a:pPr>
            <a:r>
              <a:t>2. Receber o participante: alinhar expectativa e apontar COMECE-AQUI</a:t>
            </a:r>
          </a:p>
          <a:p>
            <a:pPr>
              <a:defRPr sz="2000"/>
            </a:pPr>
            <a:r>
              <a:t>3. Validar ONB-01 — acessos minimos, sem segredo exposto</a:t>
            </a:r>
          </a:p>
          <a:p>
            <a:pPr>
              <a:defRPr sz="2000"/>
            </a:pPr>
            <a:r>
              <a:t>4. Orientar no checklist mestre e no Vxx em que a pessoa esta</a:t>
            </a:r>
          </a:p>
          <a:p>
            <a:pPr>
              <a:defRPr sz="2000"/>
            </a:pPr>
            <a:r>
              <a:t>5. Encaminhar duvidas: Teams (FAQ) ou Tech Lead (projeto) ou Andre (CDF)</a:t>
            </a:r>
          </a:p>
          <a:p>
            <a:pPr>
              <a:defRPr sz="2000"/>
            </a:pPr>
            <a:r>
              <a:t>6. Nao decidir arquitetura nem aprovar conteudo tecnico sozinho</a:t>
            </a:r>
          </a:p>
          <a:p>
            <a:pPr>
              <a:defRPr sz="2000"/>
            </a:pPr>
            <a:r>
              <a:t>7. Escalar bloqueio para Tech Lead + UR se impedir progresso &gt; 2 dias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Tech Lead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Ler governanca 01, 03, 04 e 06 + DOCUMENTACAO-DO-CONTEUDO</a:t>
            </a:r>
          </a:p>
          <a:p>
            <a:pPr>
              <a:defRPr sz="2000"/>
            </a:pPr>
            <a:r>
              <a:t>2. Validar ONB-02 — canvas de contexto do projeto</a:t>
            </a:r>
          </a:p>
          <a:p>
            <a:pPr>
              <a:defRPr sz="2000"/>
            </a:pPr>
            <a:r>
              <a:t>3. Validar CDF-02, CDF-04 — modelagem e consulta no contexto do projeto</a:t>
            </a:r>
          </a:p>
          <a:p>
            <a:pPr>
              <a:defRPr sz="2000"/>
            </a:pPr>
            <a:r>
              <a:t>4. Revisar materiais especificos de projeto em 'Em revisao tecnica'</a:t>
            </a:r>
          </a:p>
          <a:p>
            <a:pPr>
              <a:defRPr sz="2000"/>
            </a:pPr>
            <a:r>
              <a:t>5. Definir e aceitar PRJ-01 — tarefa segura com criterio claro</a:t>
            </a:r>
          </a:p>
          <a:p>
            <a:pPr>
              <a:defRPr sz="2000"/>
            </a:pPr>
            <a:r>
              <a:t>6. Conduzir EVAL-01 — demo, rubrica e decisao de prontidao no projeto</a:t>
            </a:r>
          </a:p>
          <a:p>
            <a:pPr>
              <a:defRPr sz="2000"/>
            </a:pPr>
            <a:r>
              <a:t>7. Decidir arquitetura; registrar ADR quando necessario</a:t>
            </a:r>
          </a:p>
          <a:p>
            <a:pPr>
              <a:defRPr sz="2000"/>
            </a:pPr>
            <a:r>
              <a:t>8. Escalar bloqueio de acesso/capacidade para Lara + Dayana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Gilson — estruturacao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Definir modulo, roteiro, saida esperada e aprovador (planejamento)</a:t>
            </a:r>
          </a:p>
          <a:p>
            <a:pPr>
              <a:defRPr sz="2000"/>
            </a:pPr>
            <a:r>
              <a:t>2. Confirmar DoR com Lara (prioridade) e Dayana (viabilidade operacional)</a:t>
            </a:r>
          </a:p>
          <a:p>
            <a:pPr>
              <a:defRPr sz="2000"/>
            </a:pPr>
            <a:r>
              <a:t>3. Delegar ao dono de producao com briefing e fontes permitidas</a:t>
            </a:r>
          </a:p>
          <a:p>
            <a:pPr>
              <a:defRPr sz="2000"/>
            </a:pPr>
            <a:r>
              <a:t>4. Revisar aderencia ao padrao do pacote e do checklist</a:t>
            </a:r>
          </a:p>
          <a:p>
            <a:pPr>
              <a:defRPr sz="2000"/>
            </a:pPr>
            <a:r>
              <a:t>5. Participar da triagem semanal (30 min) com Dayana e Lara</a:t>
            </a:r>
          </a:p>
          <a:p>
            <a:pPr>
              <a:defRPr sz="2000"/>
            </a:pPr>
            <a:r>
              <a:t>6. Nomear dono quando item ficar sem responsavel</a:t>
            </a:r>
          </a:p>
          <a:p>
            <a:pPr>
              <a:defRPr sz="2000"/>
            </a:pPr>
            <a:r>
              <a:t>7. Capturar feedback do piloto como item de melhoria no backlog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Andre — aprovacao tecnica CDF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Receber artefato em 'Em revisao tecnica' com fontes e evidencia</a:t>
            </a:r>
          </a:p>
          <a:p>
            <a:pPr>
              <a:defRPr sz="2000"/>
            </a:pPr>
            <a:r>
              <a:t>2. Validar precisao CDF, seguranca das praticas e profundidade</a:t>
            </a:r>
          </a:p>
          <a:p>
            <a:pPr>
              <a:defRPr sz="2000"/>
            </a:pPr>
            <a:r>
              <a:t>3. Devolver lista objetiva de correcoes OU registrar aprovacao</a:t>
            </a:r>
          </a:p>
          <a:p>
            <a:pPr>
              <a:defRPr sz="2000"/>
            </a:pPr>
            <a:r>
              <a:t>4. Validar criterios CDF na rubrica EVAL-01 (com Tech Lead)</a:t>
            </a:r>
          </a:p>
          <a:p>
            <a:pPr>
              <a:defRPr sz="2000"/>
            </a:pPr>
            <a:r>
              <a:t>5. Responder duvidas de conceito CDF (escalation da comunidade Teams)</a:t>
            </a:r>
          </a:p>
          <a:p>
            <a:pPr>
              <a:defRPr sz="2000"/>
            </a:pPr>
            <a:r>
              <a:t>6. Bloquear publicacao se houver risco critico (segredo, escrita em prod)</a:t>
            </a:r>
          </a:p>
          <a:p>
            <a:pPr>
              <a:defRPr sz="2000"/>
            </a:pPr>
            <a:r>
              <a:t>7. Nao alterar escopo sem registro no backlog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Dayana — operacao 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Ler governanca 02, 06 e 07 + checklist mestre</a:t>
            </a:r>
          </a:p>
          <a:p>
            <a:pPr>
              <a:defRPr sz="2000"/>
            </a:pPr>
            <a:r>
              <a:t>2. Garantir DoR antes de 'Em producao' e DoD antes de 'Publicado'</a:t>
            </a:r>
          </a:p>
          <a:p>
            <a:pPr>
              <a:defRPr sz="2000"/>
            </a:pPr>
            <a:r>
              <a:t>3. Receber versao aprovada (Andre ou Tech Lead conforme o caso)</a:t>
            </a:r>
          </a:p>
          <a:p>
            <a:pPr>
              <a:defRPr sz="2000"/>
            </a:pPr>
            <a:r>
              <a:t>4. Publicar na Ulearning: link, versao, data e publico correto</a:t>
            </a:r>
          </a:p>
          <a:p>
            <a:pPr>
              <a:defRPr sz="2000"/>
            </a:pPr>
            <a:r>
              <a:t>5. Acompanhar progresso e cobrar evidencias faltantes dos participantes</a:t>
            </a:r>
          </a:p>
          <a:p>
            <a:pPr>
              <a:defRPr sz="2000"/>
            </a:pPr>
            <a:r>
              <a:t>6. Ritual semanal de operacao (20 min) com Lara</a:t>
            </a:r>
          </a:p>
          <a:p>
            <a:pPr>
              <a:defRPr sz="2000"/>
            </a:pPr>
            <a:r>
              <a:t>7. Consolidar registros de EVAL-01 e indicadores do piloto</a:t>
            </a:r>
          </a:p>
          <a:p>
            <a:pPr>
              <a:defRPr sz="2000"/>
            </a:pPr>
            <a:r>
              <a:t>8. Reabrir item se publicado sem evidencia ou metadado incompleto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Lara — responsavel 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Ler governanca 01 e 02 + FRAMEWORK-DE-ONBOARDING</a:t>
            </a:r>
          </a:p>
          <a:p>
            <a:pPr>
              <a:defRPr sz="2000"/>
            </a:pPr>
            <a:r>
              <a:t>2. Confirmar prioridade e capacidade antes de iniciar producao</a:t>
            </a:r>
          </a:p>
          <a:p>
            <a:pPr>
              <a:defRPr sz="2000"/>
            </a:pPr>
            <a:r>
              <a:t>3. Participar da triagem semanal (30 min) com Gilson e Dayana</a:t>
            </a:r>
          </a:p>
          <a:p>
            <a:pPr>
              <a:defRPr sz="2000"/>
            </a:pPr>
            <a:r>
              <a:t>4. Remover impedimentos UR: acesso, inscricao, capacidade de revisores</a:t>
            </a:r>
          </a:p>
          <a:p>
            <a:pPr>
              <a:defRPr sz="2000"/>
            </a:pPr>
            <a:r>
              <a:t>5. Decidir escalonamento quando houver disputa de prioridade</a:t>
            </a:r>
          </a:p>
          <a:p>
            <a:pPr>
              <a:defRPr sz="2000"/>
            </a:pPr>
            <a:r>
              <a:t>6. Aprovar (A) publicacao na matriz RACI — Dayana executa (R)</a:t>
            </a:r>
          </a:p>
          <a:p>
            <a:pPr>
              <a:defRPr sz="2000"/>
            </a:pPr>
            <a:r>
              <a:t>7. Patrocinar kickoff do piloto e retrospectiva ao fim do ciclo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Produtor de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Receber roteiro, guia e CHECKLIST do Vxx em docs/treinamento/</a:t>
            </a:r>
          </a:p>
          <a:p>
            <a:pPr>
              <a:defRPr sz="2000"/>
            </a:pPr>
            <a:r>
              <a:t>2. Confirmar DoR: objetivo, publico, fontes, duracao e aceite</a:t>
            </a:r>
          </a:p>
          <a:p>
            <a:pPr>
              <a:defRPr sz="2000"/>
            </a:pPr>
            <a:r>
              <a:t>3. Gravar 8-12 min (max 15) — apenas dado sintetico ou sanitizado</a:t>
            </a:r>
          </a:p>
          <a:p>
            <a:pPr>
              <a:defRPr sz="2000"/>
            </a:pPr>
            <a:r>
              <a:t>4. Entregar em 'Em revisao tecnica' com evidencia e perguntas de validacao</a:t>
            </a:r>
          </a:p>
          <a:p>
            <a:pPr>
              <a:defRPr sz="2000"/>
            </a:pPr>
            <a:r>
              <a:t>5. Corrigir feedback de Andre (CDF) ou Tech Lead (projeto)</a:t>
            </a:r>
          </a:p>
          <a:p>
            <a:pPr>
              <a:defRPr sz="2000"/>
            </a:pPr>
            <a:r>
              <a:t>6. Encaminhar versao aprovada para Dayana publicar na Ulearning</a:t>
            </a:r>
          </a:p>
          <a:p>
            <a:pPr>
              <a:defRPr sz="2000"/>
            </a:pPr>
            <a:r>
              <a:t>7. Nao inventar escopo fora do roteiro aprovado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Lideranca — kickoff do piloto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Assistir Pitch-Trilha-Onboarding-CDF (visao do modelo)</a:t>
            </a:r>
          </a:p>
          <a:p>
            <a:pPr>
              <a:defRPr sz="2000"/>
            </a:pPr>
            <a:r>
              <a:t>2. Aprovar piloto: grupo, data de inicio e par de entrada por pessoa</a:t>
            </a:r>
          </a:p>
          <a:p>
            <a:pPr>
              <a:defRPr sz="2000"/>
            </a:pPr>
            <a:r>
              <a:t>3. Garantir acessos e sandbox antes de ONB-01</a:t>
            </a:r>
          </a:p>
          <a:p>
            <a:pPr>
              <a:defRPr sz="2000"/>
            </a:pPr>
            <a:r>
              <a:t>4. Acompanhar indicador: tempo ate primeira entrega segura</a:t>
            </a:r>
          </a:p>
          <a:p>
            <a:pPr>
              <a:defRPr sz="2000"/>
            </a:pPr>
            <a:r>
              <a:t>5. Patrocinar retro do piloto com UR + Tech Leads + participantes</a:t>
            </a:r>
          </a:p>
          <a:p>
            <a:pPr>
              <a:defRPr sz="2000"/>
            </a:pPr>
            <a:r>
              <a:t>6. Decidir expansao ou ajustes com base em evidencias, nao em percepcao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4A"/>
                </a:solidFill>
              </a:defRPr>
            </a:pPr>
            <a:r>
              <a:t>Matriz rapida — quem acionar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Conceito CDF -&gt; Andre | Arquitetura projeto -&gt; Tech Lead</a:t>
            </a:r>
          </a:p>
          <a:p>
            <a:pPr>
              <a:defRPr sz="2000"/>
            </a:pPr>
            <a:r>
              <a:t>Acesso ONB-01 -&gt; Par de entrada | Publicacao -&gt; Dayana</a:t>
            </a:r>
          </a:p>
          <a:p>
            <a:pPr>
              <a:defRPr sz="2000"/>
            </a:pPr>
            <a:r>
              <a:t>Prioridade/capacidade UR -&gt; Lara | Estrutura/padrao -&gt; Gilson</a:t>
            </a:r>
          </a:p>
          <a:p>
            <a:pPr>
              <a:defRPr sz="2000"/>
            </a:pPr>
            <a:r>
              <a:t>Bloqueio geral -&gt; Par + Tech Lead + UR (Teams como FAQ)</a:t>
            </a:r>
          </a:p>
          <a:p>
            <a:pPr>
              <a:defRPr sz="2000"/>
            </a:pPr>
            <a:r>
              <a:t>Documento oficial -&gt; Dono do conteudo valida antes de referencia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